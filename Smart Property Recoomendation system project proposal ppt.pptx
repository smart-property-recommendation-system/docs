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C15CD0-9CFC-4690-ABD9-57A6F54850C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833001-2144-4678-9694-3B0C313A343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1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3.png"/><Relationship Id="rId10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0.jpe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0078200" cy="1141200"/>
          </a:xfrm>
          <a:prstGeom prst="rect">
            <a:avLst/>
          </a:prstGeom>
          <a:solidFill>
            <a:srgbClr val="5A2B3D"/>
          </a:solidFill>
          <a:ln w="0">
            <a:solidFill>
              <a:srgbClr val="5A2B3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3200" b="0" i="1" u="none" strike="noStrike">
                <a:solidFill>
                  <a:srgbClr val="D1B683"/>
                </a:solidFill>
                <a:effectLst/>
                <a:uFillTx/>
                <a:latin typeface="Lato Black"/>
                <a:ea typeface="DejaVu Sans"/>
              </a:rPr>
              <a:t>SMART PROPERTY RECOMMENDATION SYSTEM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1800" y="1143000"/>
            <a:ext cx="3882600" cy="456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"/>
          <p:cNvSpPr/>
          <p:nvPr/>
        </p:nvSpPr>
        <p:spPr>
          <a:xfrm>
            <a:off x="3717000" y="4078800"/>
            <a:ext cx="455400" cy="1598400"/>
          </a:xfrm>
          <a:prstGeom prst="rect">
            <a:avLst/>
          </a:prstGeom>
          <a:solidFill>
            <a:srgbClr val="5A2B3D"/>
          </a:solidFill>
          <a:ln w="0">
            <a:solidFill>
              <a:srgbClr val="5A2B3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429000" y="4307400"/>
            <a:ext cx="1006200" cy="990000"/>
          </a:xfrm>
          <a:prstGeom prst="ellipse">
            <a:avLst/>
          </a:prstGeom>
          <a:solidFill>
            <a:srgbClr val="5A2B3D"/>
          </a:solidFill>
          <a:ln w="0">
            <a:solidFill>
              <a:srgbClr val="5A2B3D"/>
            </a:solidFill>
          </a:ln>
          <a:effectLst>
            <a:outerShdw blurRad="127080" dir="2700000" dist="89604" rotWithShape="0">
              <a:srgbClr val="808080">
                <a:alpha val="61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174200" y="5365800"/>
            <a:ext cx="5904000" cy="302400"/>
          </a:xfrm>
          <a:prstGeom prst="rect">
            <a:avLst/>
          </a:prstGeom>
          <a:blipFill rotWithShape="0">
            <a:blip r:embed="rId2">
              <a:alphaModFix amt="47000"/>
            </a:blip>
            <a:srcRect/>
            <a:tile tx="0" ty="0" sx="100000" sy="100000" algn="ctr"/>
          </a:blipFill>
          <a:ln w="0">
            <a:solidFill>
              <a:srgbClr val="D1B683"/>
            </a:solidFill>
            <a:prstDash val="sysDash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629400" y="1371600"/>
            <a:ext cx="3198600" cy="38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400" b="1" u="sng" strike="noStrike">
                <a:solidFill>
                  <a:srgbClr val="000000"/>
                </a:solidFill>
                <a:effectLst/>
                <a:uFillTx/>
                <a:latin typeface="Lato Semibold"/>
                <a:ea typeface="DejaVu Sans"/>
              </a:rPr>
              <a:t>Project Proposal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Lato"/>
                <a:ea typeface="DejaVu Sans"/>
              </a:rPr>
              <a:t>Prepared by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DejaVu Sans"/>
              </a:rPr>
              <a:t>Subhrojit Patra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Lato"/>
                <a:ea typeface="DejaVu Sans"/>
              </a:rPr>
              <a:t>Supported by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DejaVu Sans"/>
              </a:rPr>
              <a:t>Rohit Haldar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DejaVu Sans"/>
              </a:rPr>
              <a:t>Riya Ranjan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3"/>
          <a:stretch/>
        </p:blipFill>
        <p:spPr>
          <a:xfrm>
            <a:off x="3501000" y="4376520"/>
            <a:ext cx="840600" cy="8406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518400" y="421200"/>
            <a:ext cx="7313400" cy="11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000" b="1" u="none" strike="noStrike">
                <a:solidFill>
                  <a:srgbClr val="0A3F23"/>
                </a:solidFill>
                <a:effectLst/>
                <a:uFillTx/>
                <a:latin typeface="Lato Black"/>
                <a:ea typeface="DejaVu Sans"/>
              </a:rPr>
              <a:t>MEET THE MEMBERS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i="1" u="none" strike="noStrike">
                <a:solidFill>
                  <a:srgbClr val="1F4E34"/>
                </a:solidFill>
                <a:effectLst/>
                <a:uFillTx/>
                <a:latin typeface="Lato Semibold"/>
                <a:ea typeface="DejaVu Sans"/>
              </a:rPr>
              <a:t>The Minds Behind the Magic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277200" y="1828800"/>
            <a:ext cx="297000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 Semibold"/>
                <a:ea typeface="DejaVu Sans"/>
              </a:rPr>
              <a:t>Rohit Haldar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DejaVu Sans"/>
              </a:rPr>
              <a:t>Data Analyst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589560" y="1829160"/>
            <a:ext cx="297000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 Semibold"/>
                <a:ea typeface="DejaVu Sans"/>
              </a:rPr>
              <a:t>Subhrojit Patra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DejaVu Sans"/>
              </a:rPr>
              <a:t>Team Leader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153920" y="1829520"/>
            <a:ext cx="297000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 Semibold"/>
                <a:ea typeface="DejaVu Sans"/>
              </a:rPr>
              <a:t>Riya Ranjan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DejaVu Sans"/>
              </a:rPr>
              <a:t>Full Stack Developer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"/>
          <p:cNvPicPr/>
          <p:nvPr/>
        </p:nvPicPr>
        <p:blipFill>
          <a:blip r:embed="rId2"/>
          <a:srcRect l="0" t="32133" r="21069" b="11391"/>
          <a:stretch/>
        </p:blipFill>
        <p:spPr>
          <a:xfrm>
            <a:off x="257400" y="2743200"/>
            <a:ext cx="2659320" cy="274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"/>
          <p:cNvPicPr/>
          <p:nvPr/>
        </p:nvPicPr>
        <p:blipFill>
          <a:blip r:embed="rId3"/>
          <a:srcRect l="16939" t="16018" r="19991" b="28170"/>
          <a:stretch/>
        </p:blipFill>
        <p:spPr>
          <a:xfrm>
            <a:off x="7209000" y="2743200"/>
            <a:ext cx="2510280" cy="274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"/>
          <p:cNvPicPr/>
          <p:nvPr/>
        </p:nvPicPr>
        <p:blipFill>
          <a:blip r:embed="rId4"/>
          <a:srcRect l="5372" t="31432" r="3232" b="0"/>
          <a:stretch/>
        </p:blipFill>
        <p:spPr>
          <a:xfrm>
            <a:off x="3583800" y="2743200"/>
            <a:ext cx="2970000" cy="27414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64" dur="indefinite" restart="never" nodeType="tmRoot">
          <p:childTnLst>
            <p:seq>
              <p:cTn id="65" dur="indefinite" nodeType="mainSeq"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81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8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0"/>
                            </p:stCondLst>
                            <p:childTnLst>
                              <p:par>
                                <p:cTn id="91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000"/>
                            </p:stCondLst>
                            <p:childTnLst>
                              <p:par>
                                <p:cTn id="101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000"/>
                            </p:stCondLst>
                            <p:childTnLst>
                              <p:par>
                                <p:cTn id="106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000"/>
                            </p:stCondLst>
                            <p:childTnLst>
                              <p:par>
                                <p:cTn id="111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3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6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8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9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865800" y="351720"/>
            <a:ext cx="868500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4000" b="1" u="sng" strike="noStrike">
                <a:solidFill>
                  <a:srgbClr val="0A3F23"/>
                </a:solidFill>
                <a:effectLst/>
                <a:uFillTx/>
                <a:latin typeface="Lato Black"/>
                <a:ea typeface="DejaVu Sans"/>
              </a:rPr>
              <a:t>LIST OF CONTENTS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/>
          <p:nvPr/>
        </p:nvSpPr>
        <p:spPr>
          <a:xfrm>
            <a:off x="1166400" y="1343160"/>
            <a:ext cx="7999560" cy="38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marL="216000" indent="-216000"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 charset="2"/>
              <a:buAutoNum type="arabicParenR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Current Property Search Landscape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 charset="2"/>
              <a:buAutoNum type="arabicParenR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Problem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 charset="2"/>
              <a:buAutoNum type="arabicParenR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Proposed 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 charset="2"/>
              <a:buAutoNum type="arabicParenR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System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 charset="2"/>
              <a:buAutoNum type="arabicParenR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Key Features &amp; Intelligence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 charset="2"/>
              <a:buAutoNum type="arabicParenR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Technology Requirements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 charset="2"/>
              <a:buAutoNum type="arabicParenR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Expected Outcomes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 charset="2"/>
              <a:buAutoNum type="arabicParenR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Conclusion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 charset="2"/>
              <a:buAutoNum type="arabicParenR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References</a:t>
            </a:r>
            <a:r>
              <a:rPr lang="en-US" sz="24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ll dir="d"/>
  </p:transition>
  <p:timing>
    <p:tnLst>
      <p:par>
        <p:cTn id="120" dur="indefinite" restart="never" nodeType="tmRoot">
          <p:childTnLst>
            <p:seq>
              <p:cTn id="121" dur="indefinite" nodeType="mainSeq"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6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7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0"/>
                            </p:stCondLst>
                            <p:childTnLst>
                              <p:par>
                                <p:cTn id="139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1" dur="5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" dur="5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4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6" dur="500" fill="hold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" dur="500" fill="hold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500"/>
                            </p:stCondLst>
                            <p:childTnLst>
                              <p:par>
                                <p:cTn id="149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1" dur="5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2" dur="5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500"/>
                            </p:stCondLst>
                            <p:childTnLst>
                              <p:par>
                                <p:cTn id="154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6" dur="500" fill="hold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" dur="500" fill="hold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6500"/>
                            </p:stCondLst>
                            <p:childTnLst>
                              <p:par>
                                <p:cTn id="159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1" dur="500" fill="hold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2" dur="500" fill="hold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7500"/>
                            </p:stCondLst>
                            <p:childTnLst>
                              <p:par>
                                <p:cTn id="164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6" dur="500" fill="hold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" dur="500" fill="hold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8500"/>
                            </p:stCondLst>
                            <p:childTnLst>
                              <p:par>
                                <p:cTn id="169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1" dur="500" fill="hold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2" dur="500" fill="hold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3867840" y="2481480"/>
            <a:ext cx="1547280" cy="146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"/>
          <p:cNvPicPr/>
          <p:nvPr/>
        </p:nvPicPr>
        <p:blipFill>
          <a:blip r:embed="rId2"/>
          <a:stretch/>
        </p:blipFill>
        <p:spPr>
          <a:xfrm>
            <a:off x="7133760" y="1457280"/>
            <a:ext cx="1539000" cy="145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"/>
          <p:cNvPicPr/>
          <p:nvPr/>
        </p:nvPicPr>
        <p:blipFill>
          <a:blip r:embed="rId3"/>
          <a:stretch/>
        </p:blipFill>
        <p:spPr>
          <a:xfrm>
            <a:off x="7256520" y="4348080"/>
            <a:ext cx="1162800" cy="109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/>
          <p:cNvPicPr/>
          <p:nvPr/>
        </p:nvPicPr>
        <p:blipFill>
          <a:blip r:embed="rId4"/>
          <a:stretch/>
        </p:blipFill>
        <p:spPr>
          <a:xfrm>
            <a:off x="7199640" y="2981520"/>
            <a:ext cx="1355040" cy="1278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4" name=""/>
          <p:cNvCxnSpPr>
            <a:stCxn id="30" idx="3"/>
            <a:endCxn id="31" idx="1"/>
          </p:cNvCxnSpPr>
          <p:nvPr/>
        </p:nvCxnSpPr>
        <p:spPr>
          <a:xfrm flipV="1">
            <a:off x="5415120" y="2183760"/>
            <a:ext cx="1719000" cy="1028520"/>
          </a:xfrm>
          <a:prstGeom prst="straightConnector1">
            <a:avLst/>
          </a:prstGeom>
          <a:ln w="0">
            <a:solidFill>
              <a:srgbClr val="2C3539"/>
            </a:solidFill>
            <a:headEnd len="med" type="triangle" w="med"/>
            <a:tailEnd len="med" type="triangle" w="med"/>
          </a:ln>
        </p:spPr>
      </p:cxnSp>
      <p:cxnSp>
        <p:nvCxnSpPr>
          <p:cNvPr id="35" name=""/>
          <p:cNvCxnSpPr>
            <a:stCxn id="30" idx="3"/>
            <a:endCxn id="33" idx="1"/>
          </p:cNvCxnSpPr>
          <p:nvPr/>
        </p:nvCxnSpPr>
        <p:spPr>
          <a:xfrm>
            <a:off x="5415120" y="3211920"/>
            <a:ext cx="1784880" cy="409320"/>
          </a:xfrm>
          <a:prstGeom prst="straightConnector1">
            <a:avLst/>
          </a:prstGeom>
          <a:ln w="0">
            <a:solidFill>
              <a:srgbClr val="2C3539"/>
            </a:solidFill>
            <a:headEnd len="med" type="triangle" w="med"/>
            <a:tailEnd len="med" type="triangle" w="med"/>
          </a:ln>
        </p:spPr>
      </p:cxnSp>
      <p:cxnSp>
        <p:nvCxnSpPr>
          <p:cNvPr id="36" name=""/>
          <p:cNvCxnSpPr>
            <a:stCxn id="30" idx="3"/>
            <a:endCxn id="32" idx="1"/>
          </p:cNvCxnSpPr>
          <p:nvPr/>
        </p:nvCxnSpPr>
        <p:spPr>
          <a:xfrm>
            <a:off x="5415120" y="3211920"/>
            <a:ext cx="1841760" cy="1684800"/>
          </a:xfrm>
          <a:prstGeom prst="straightConnector1">
            <a:avLst/>
          </a:prstGeom>
          <a:ln w="0">
            <a:solidFill>
              <a:srgbClr val="2C3539"/>
            </a:solidFill>
            <a:headEnd len="med" type="triangle" w="med"/>
            <a:tailEnd len="med" type="triangle" w="med"/>
          </a:ln>
        </p:spPr>
      </p:cxnSp>
      <p:sp>
        <p:nvSpPr>
          <p:cNvPr id="37" name=""/>
          <p:cNvSpPr/>
          <p:nvPr/>
        </p:nvSpPr>
        <p:spPr>
          <a:xfrm>
            <a:off x="3845520" y="4100400"/>
            <a:ext cx="1540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BROKER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8674560" y="1801800"/>
            <a:ext cx="55944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KOL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8674560" y="3263040"/>
            <a:ext cx="68364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HYD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674560" y="4723560"/>
            <a:ext cx="55944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BLR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"/>
          <p:cNvCxnSpPr>
            <a:endCxn id="30" idx="1"/>
          </p:cNvCxnSpPr>
          <p:nvPr/>
        </p:nvCxnSpPr>
        <p:spPr>
          <a:xfrm>
            <a:off x="2575080" y="1884240"/>
            <a:ext cx="1293120" cy="1328040"/>
          </a:xfrm>
          <a:prstGeom prst="straightConnector1">
            <a:avLst/>
          </a:prstGeom>
          <a:ln w="0">
            <a:solidFill>
              <a:srgbClr val="2C3539"/>
            </a:solidFill>
            <a:headEnd len="med" type="triangle" w="med"/>
            <a:tailEnd len="med" type="triangle" w="med"/>
          </a:ln>
        </p:spPr>
      </p:cxnSp>
      <p:cxnSp>
        <p:nvCxnSpPr>
          <p:cNvPr id="42" name=""/>
          <p:cNvCxnSpPr>
            <a:endCxn id="30" idx="1"/>
          </p:cNvCxnSpPr>
          <p:nvPr/>
        </p:nvCxnSpPr>
        <p:spPr>
          <a:xfrm flipV="1">
            <a:off x="2500920" y="3211920"/>
            <a:ext cx="1367280" cy="166320"/>
          </a:xfrm>
          <a:prstGeom prst="straightConnector1">
            <a:avLst/>
          </a:prstGeom>
          <a:ln w="0">
            <a:solidFill>
              <a:srgbClr val="2C3539"/>
            </a:solidFill>
            <a:headEnd len="med" type="triangle" w="med"/>
            <a:tailEnd len="med" type="triangle" w="med"/>
          </a:ln>
        </p:spPr>
      </p:cxnSp>
      <p:cxnSp>
        <p:nvCxnSpPr>
          <p:cNvPr id="43" name=""/>
          <p:cNvCxnSpPr>
            <a:endCxn id="30" idx="1"/>
          </p:cNvCxnSpPr>
          <p:nvPr/>
        </p:nvCxnSpPr>
        <p:spPr>
          <a:xfrm flipV="1">
            <a:off x="2492640" y="3211920"/>
            <a:ext cx="1375560" cy="1563480"/>
          </a:xfrm>
          <a:prstGeom prst="straightConnector1">
            <a:avLst/>
          </a:prstGeom>
          <a:ln w="0">
            <a:solidFill>
              <a:srgbClr val="2C3539"/>
            </a:solidFill>
            <a:headEnd len="med" type="triangle" w="med"/>
            <a:tailEnd len="med" type="triangle" w="med"/>
          </a:ln>
        </p:spPr>
      </p:cxnSp>
      <p:pic>
        <p:nvPicPr>
          <p:cNvPr id="44" name=""/>
          <p:cNvPicPr/>
          <p:nvPr/>
        </p:nvPicPr>
        <p:blipFill>
          <a:blip r:embed="rId5"/>
          <a:stretch/>
        </p:blipFill>
        <p:spPr>
          <a:xfrm>
            <a:off x="1310400" y="1287000"/>
            <a:ext cx="1262880" cy="119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"/>
          <p:cNvPicPr/>
          <p:nvPr/>
        </p:nvPicPr>
        <p:blipFill>
          <a:blip r:embed="rId6"/>
          <a:stretch/>
        </p:blipFill>
        <p:spPr>
          <a:xfrm>
            <a:off x="1377000" y="2845440"/>
            <a:ext cx="1122120" cy="105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"/>
          <p:cNvPicPr/>
          <p:nvPr/>
        </p:nvPicPr>
        <p:blipFill>
          <a:blip r:embed="rId7"/>
          <a:stretch/>
        </p:blipFill>
        <p:spPr>
          <a:xfrm>
            <a:off x="1490400" y="4300560"/>
            <a:ext cx="1000440" cy="94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"/>
          <p:cNvPicPr/>
          <p:nvPr/>
        </p:nvPicPr>
        <p:blipFill>
          <a:blip r:embed="rId8"/>
          <a:stretch/>
        </p:blipFill>
        <p:spPr>
          <a:xfrm>
            <a:off x="4124160" y="1431000"/>
            <a:ext cx="1069920" cy="99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93200" y="190800"/>
            <a:ext cx="9142200" cy="103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b="0" u="sng" strike="noStrike">
                <a:solidFill>
                  <a:srgbClr val="0A3F23"/>
                </a:solidFill>
                <a:effectLst/>
                <a:uFillTx/>
                <a:latin typeface="Lato Black"/>
              </a:rPr>
              <a:t>CURRENT PROPERTY SEARCH LANDSCAPE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"/>
          <p:cNvPicPr/>
          <p:nvPr/>
        </p:nvPicPr>
        <p:blipFill>
          <a:blip r:embed="rId9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173" dur="indefinite" restart="never" nodeType="tmRoot">
          <p:childTnLst>
            <p:seq>
              <p:cTn id="174" dur="indefinite" nodeType="mainSeq"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500"/>
                            </p:stCondLst>
                            <p:childTnLst>
                              <p:par>
                                <p:cTn id="192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000"/>
                            </p:stCondLst>
                            <p:childTnLst>
                              <p:par>
                                <p:cTn id="197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9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500"/>
                            </p:stCondLst>
                            <p:childTnLst>
                              <p:par>
                                <p:cTn id="202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000"/>
                            </p:stCondLst>
                            <p:childTnLst>
                              <p:par>
                                <p:cTn id="207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9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0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"/>
                            </p:stCondLst>
                            <p:childTnLst>
                              <p:par>
                                <p:cTn id="212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4" dur="125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" dur="125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3625"/>
                            </p:stCondLst>
                            <p:childTnLst>
                              <p:par>
                                <p:cTn id="217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4125"/>
                            </p:stCondLst>
                            <p:childTnLst>
                              <p:par>
                                <p:cTn id="222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4625"/>
                            </p:stCondLst>
                            <p:childTnLst>
                              <p:par>
                                <p:cTn id="227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4626"/>
                            </p:stCondLst>
                            <p:childTnLst>
                              <p:par>
                                <p:cTn id="230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4627"/>
                            </p:stCondLst>
                            <p:childTnLst>
                              <p:par>
                                <p:cTn id="233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6128"/>
                            </p:stCondLst>
                            <p:childTnLst>
                              <p:par>
                                <p:cTn id="236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6129"/>
                            </p:stCondLst>
                            <p:childTnLst>
                              <p:par>
                                <p:cTn id="239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6130"/>
                            </p:stCondLst>
                            <p:childTnLst>
                              <p:par>
                                <p:cTn id="242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6131"/>
                            </p:stCondLst>
                            <p:childTnLst>
                              <p:par>
                                <p:cTn id="245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6631"/>
                            </p:stCondLst>
                            <p:childTnLst>
                              <p:par>
                                <p:cTn id="250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7131"/>
                            </p:stCondLst>
                            <p:childTnLst>
                              <p:par>
                                <p:cTn id="255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96280"/>
            <a:ext cx="906984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sng" strike="noStrike">
                <a:solidFill>
                  <a:srgbClr val="0A3F23"/>
                </a:solidFill>
                <a:effectLst/>
                <a:uFillTx/>
                <a:latin typeface="Lato Black"/>
              </a:rPr>
              <a:t>PROBLEM STATEMENT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04000" y="1397160"/>
            <a:ext cx="9095400" cy="370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2C3539"/>
                </a:solidFill>
                <a:effectLst/>
                <a:uFillTx/>
                <a:latin typeface="Lato"/>
              </a:rPr>
              <a:t>When people rely on </a:t>
            </a:r>
            <a:r>
              <a:rPr lang="en-US" sz="1600" b="0" i="1" u="none" strike="noStrike">
                <a:solidFill>
                  <a:srgbClr val="2C3539"/>
                </a:solidFill>
                <a:effectLst/>
                <a:uFillTx/>
                <a:latin typeface="Lato Semibold"/>
              </a:rPr>
              <a:t>traditional brokers</a:t>
            </a:r>
            <a:r>
              <a:rPr lang="en-US" sz="1600" b="0" u="none" strike="noStrike">
                <a:solidFill>
                  <a:srgbClr val="2C3539"/>
                </a:solidFill>
                <a:effectLst/>
                <a:uFillTx/>
                <a:latin typeface="Lato"/>
              </a:rPr>
              <a:t> to buy a property, there is a risk of misleading information, hidden charges, or potential scams.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2C3539"/>
                </a:solidFill>
                <a:effectLst/>
                <a:uFillTx/>
                <a:latin typeface="Lato"/>
              </a:rPr>
              <a:t>On the other hand, </a:t>
            </a:r>
            <a:r>
              <a:rPr lang="en-US" sz="1600" b="0" i="1" u="none" strike="noStrike">
                <a:solidFill>
                  <a:srgbClr val="2C3539"/>
                </a:solidFill>
                <a:effectLst/>
                <a:uFillTx/>
                <a:latin typeface="Lato Semibold"/>
              </a:rPr>
              <a:t>online platforms</a:t>
            </a:r>
            <a:r>
              <a:rPr lang="en-US" sz="1600" b="0" u="none" strike="noStrike">
                <a:solidFill>
                  <a:srgbClr val="2C3539"/>
                </a:solidFill>
                <a:effectLst/>
                <a:uFillTx/>
                <a:latin typeface="Lato"/>
              </a:rPr>
              <a:t> may present thousands of property options, making it difficult to identify the most suitable one.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2C3539"/>
                </a:solidFill>
                <a:effectLst/>
                <a:uFillTx/>
                <a:latin typeface="Lato"/>
              </a:rPr>
              <a:t>WHAT SHOULD WE DO?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"/>
          <p:cNvPicPr/>
          <p:nvPr/>
        </p:nvPicPr>
        <p:blipFill>
          <a:blip r:embed="rId1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"/>
          <p:cNvPicPr/>
          <p:nvPr/>
        </p:nvPicPr>
        <p:blipFill>
          <a:blip r:embed="rId2"/>
          <a:stretch/>
        </p:blipFill>
        <p:spPr>
          <a:xfrm>
            <a:off x="3801600" y="2724840"/>
            <a:ext cx="2300040" cy="27111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259" dur="indefinite" restart="never" nodeType="tmRoot">
          <p:childTnLst>
            <p:seq>
              <p:cTn id="260" dur="indefinite" nodeType="mainSeq"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5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6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500"/>
                            </p:stCondLst>
                            <p:childTnLst>
                              <p:par>
                                <p:cTn id="268" presetID="2" presetClass="entr" fill="hold" nodeType="afterEffect" presetSubtype="4" repeatCount="200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9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500"/>
                            </p:stCondLst>
                            <p:childTnLst>
                              <p:par>
                                <p:cTn id="273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5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6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000"/>
                            </p:stCondLst>
                            <p:childTnLst>
                              <p:par>
                                <p:cTn id="278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0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1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4500"/>
                            </p:stCondLst>
                            <p:childTnLst>
                              <p:par>
                                <p:cTn id="283" presetID="2" presetClass="entr" fill="hold" nodeType="afterEffect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5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6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96280"/>
            <a:ext cx="906984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000" b="0" u="sng" strike="noStrike">
                <a:solidFill>
                  <a:srgbClr val="0A3F23"/>
                </a:solidFill>
                <a:effectLst/>
                <a:uFillTx/>
                <a:latin typeface="Lato Black"/>
              </a:rPr>
              <a:t>PROPOSED SOLUTION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914400" y="1407600"/>
            <a:ext cx="8456400" cy="31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Authentic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and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verified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property information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Broker-free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direct owner contact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Only relevant properties,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not endless listings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AI/ML-based personalized recommendations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Detailed Information about the property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Safety, connectivity and lifestyle information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"/>
          <p:cNvPicPr/>
          <p:nvPr/>
        </p:nvPicPr>
        <p:blipFill>
          <a:blip r:embed="rId1"/>
          <a:srcRect l="0" t="0" r="0" b="9503"/>
          <a:stretch/>
        </p:blipFill>
        <p:spPr>
          <a:xfrm>
            <a:off x="5653440" y="1689120"/>
            <a:ext cx="4303080" cy="241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"/>
          <p:cNvPicPr/>
          <p:nvPr/>
        </p:nvPicPr>
        <p:blipFill>
          <a:blip r:embed="rId2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287" dur="indefinite" restart="never" nodeType="tmRoot">
          <p:childTnLst>
            <p:seq>
              <p:cTn id="288" dur="indefinite" nodeType="mainSeq"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3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4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500"/>
                            </p:stCondLst>
                            <p:childTnLst>
                              <p:par>
                                <p:cTn id="296" presetID="2" presetClass="entr" fill="hold" nodeType="afterEffect" presetSubtype="4" repeatCount="200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7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3500"/>
                            </p:stCondLst>
                            <p:childTnLst>
                              <p:par>
                                <p:cTn id="301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3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4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4000"/>
                            </p:stCondLst>
                            <p:childTnLst>
                              <p:par>
                                <p:cTn id="306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8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9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1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" dur="500" fill="hold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5000"/>
                            </p:stCondLst>
                            <p:childTnLst>
                              <p:par>
                                <p:cTn id="316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8" dur="500" fill="hold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9" dur="500" fill="hold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500"/>
                            </p:stCondLst>
                            <p:childTnLst>
                              <p:par>
                                <p:cTn id="321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3" dur="500" fill="hold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4" dur="500" fill="hold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6000"/>
                            </p:stCondLst>
                            <p:childTnLst>
                              <p:par>
                                <p:cTn id="326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8" dur="500" fill="hold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9" dur="500" fill="hold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96280"/>
            <a:ext cx="906984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000" b="0" u="sng" strike="noStrike">
                <a:solidFill>
                  <a:srgbClr val="0A3F23"/>
                </a:solidFill>
                <a:effectLst/>
                <a:uFillTx/>
                <a:latin typeface="Lato Black"/>
              </a:rPr>
              <a:t>SYSTEM WORKFLOW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486360" y="1576800"/>
            <a:ext cx="9133920" cy="367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/>
          <p:cNvPicPr/>
          <p:nvPr/>
        </p:nvPicPr>
        <p:blipFill>
          <a:blip r:embed="rId2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330" dur="indefinite" restart="never" nodeType="tmRoot">
          <p:childTnLst>
            <p:seq>
              <p:cTn id="331" dur="indefinite" nodeType="mainSeq"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500"/>
                            </p:stCondLst>
                            <p:childTnLst>
                              <p:par>
                                <p:cTn id="339" presetID="2" presetClass="entr" fill="hold" nodeType="afterEffect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0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144360"/>
            <a:ext cx="9069840" cy="125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sng" strike="noStrike">
                <a:solidFill>
                  <a:srgbClr val="0A3F23"/>
                </a:solidFill>
                <a:effectLst/>
                <a:uFillTx/>
                <a:latin typeface="Lato Black"/>
              </a:rPr>
              <a:t>KEY FEATURES AND INTELLIGENCE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57200" y="2208600"/>
            <a:ext cx="9370800" cy="24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🔎 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Search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— Location-based property discovery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⚙️ 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Filter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— Manual or AI-assisted customization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🤖 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AI Assistant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— Understands user preferences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🏠 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Property View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— Detailed property information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📊 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Analytics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— Data-driven property insights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📝 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AI Summary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— Quick, understandable property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Black"/>
                <a:ea typeface="DejaVu Sans"/>
              </a:rPr>
              <a:t>“Less searching. More understanding. Smarter property decisions.”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"/>
          <p:cNvPicPr/>
          <p:nvPr/>
        </p:nvPicPr>
        <p:blipFill>
          <a:blip r:embed="rId1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343" dur="indefinite" restart="never" nodeType="tmRoot">
          <p:childTnLst>
            <p:seq>
              <p:cTn id="344" dur="indefinite" nodeType="mainSeq"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9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0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500"/>
                            </p:stCondLst>
                            <p:childTnLst>
                              <p:par>
                                <p:cTn id="352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1000"/>
                            </p:stCondLst>
                            <p:childTnLst>
                              <p:par>
                                <p:cTn id="357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9" dur="5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0" dur="5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500"/>
                            </p:stCondLst>
                            <p:childTnLst>
                              <p:par>
                                <p:cTn id="362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4" dur="5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5" dur="5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>
                            <p:stCondLst>
                              <p:cond delay="2000"/>
                            </p:stCondLst>
                            <p:childTnLst>
                              <p:par>
                                <p:cTn id="367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9" dur="5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0" dur="5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2500"/>
                            </p:stCondLst>
                            <p:childTnLst>
                              <p:par>
                                <p:cTn id="372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4" dur="5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5" dur="5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7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9" dur="5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0" dur="5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3500"/>
                            </p:stCondLst>
                            <p:childTnLst>
                              <p:par>
                                <p:cTn id="382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4" dur="5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5" dur="5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96280"/>
            <a:ext cx="906984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sng" strike="noStrike">
                <a:solidFill>
                  <a:srgbClr val="0A3F23"/>
                </a:solidFill>
                <a:effectLst/>
                <a:uFillTx/>
                <a:latin typeface="Lato Black"/>
              </a:rPr>
              <a:t>TECHNOLOGY REQUIREMENTS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"/>
          <p:cNvSpPr/>
          <p:nvPr/>
        </p:nvSpPr>
        <p:spPr>
          <a:xfrm>
            <a:off x="5875200" y="1485360"/>
            <a:ext cx="38430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sng" strike="noStrike">
                <a:solidFill>
                  <a:srgbClr val="2C3539"/>
                </a:solidFill>
                <a:effectLst/>
                <a:uFillTx/>
                <a:latin typeface="Lato Black"/>
                <a:ea typeface="DejaVu Sans"/>
              </a:rPr>
              <a:t>AI / 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Enables intelligent property recommendations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User Preference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Property Matching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Intelligent Insights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08400" y="3249360"/>
            <a:ext cx="396180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sng" strike="noStrike">
                <a:solidFill>
                  <a:srgbClr val="2C3539"/>
                </a:solidFill>
                <a:effectLst/>
                <a:uFillTx/>
                <a:latin typeface="Lato Black"/>
                <a:ea typeface="DejaVu Sans"/>
              </a:rPr>
              <a:t>Data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Turns raw property data into insights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Data Preparation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Pattern &amp; Trend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Insights &amp; Visualization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88240" y="1485360"/>
            <a:ext cx="550656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sng" strike="noStrike">
                <a:solidFill>
                  <a:srgbClr val="2C3539"/>
                </a:solidFill>
                <a:effectLst/>
                <a:uFillTx/>
                <a:latin typeface="Lato Black"/>
                <a:ea typeface="Noto Sans CJK SC"/>
              </a:rPr>
              <a:t>Full Stack Development </a:t>
            </a:r>
            <a:r>
              <a:rPr lang="en-US" sz="1800" b="1" u="sng" strike="noStrike">
                <a:solidFill>
                  <a:srgbClr val="2C3539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lang="en-US" sz="1800" b="1" u="none" strike="noStrike">
                <a:solidFill>
                  <a:srgbClr val="2C3539"/>
                </a:solidFill>
                <a:effectLst/>
                <a:uFillTx/>
                <a:latin typeface="Arial"/>
                <a:ea typeface="Noto Sans CJK SC"/>
              </a:rPr>
              <a:t>                                       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Noto Sans CJK SC"/>
              </a:rPr>
              <a:t>Builds the user-facing 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Noto Sans CJK SC"/>
              </a:rPr>
              <a:t>UI — Search, Filters &amp; Comparison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Noto Sans CJK SC"/>
              </a:rPr>
              <a:t>Back-end — System &amp; Property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Noto Sans CJK SC"/>
              </a:rPr>
              <a:t>Database &amp; APIs — Data &amp; Connectivity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2"/>
          <a:stretch/>
        </p:blipFill>
        <p:spPr>
          <a:xfrm>
            <a:off x="8001000" y="4193280"/>
            <a:ext cx="1712520" cy="106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"/>
          <p:cNvPicPr/>
          <p:nvPr/>
        </p:nvPicPr>
        <p:blipFill>
          <a:blip r:embed="rId3"/>
          <a:stretch/>
        </p:blipFill>
        <p:spPr>
          <a:xfrm>
            <a:off x="5943600" y="3464640"/>
            <a:ext cx="2244600" cy="224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"/>
          <p:cNvPicPr/>
          <p:nvPr/>
        </p:nvPicPr>
        <p:blipFill>
          <a:blip r:embed="rId4"/>
          <a:stretch/>
        </p:blipFill>
        <p:spPr>
          <a:xfrm>
            <a:off x="4114800" y="3429000"/>
            <a:ext cx="2210400" cy="22104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386" dur="indefinite" restart="never" nodeType="tmRoot">
          <p:childTnLst>
            <p:seq>
              <p:cTn id="387" dur="indefinite" nodeType="mainSeq"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2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3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500"/>
                            </p:stCondLst>
                            <p:childTnLst>
                              <p:par>
                                <p:cTn id="395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0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2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3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1500"/>
                            </p:stCondLst>
                            <p:childTnLst>
                              <p:par>
                                <p:cTn id="405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7" dur="500" fill="hold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500" fill="hold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2000"/>
                            </p:stCondLst>
                            <p:childTnLst>
                              <p:par>
                                <p:cTn id="410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2" dur="500" fill="hold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3" dur="500" fill="hold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2500"/>
                            </p:stCondLst>
                            <p:childTnLst>
                              <p:par>
                                <p:cTn id="415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7" dur="500" fill="hold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8" dur="500" fill="hold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3000"/>
                            </p:stCondLst>
                            <p:childTnLst>
                              <p:par>
                                <p:cTn id="420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2" dur="500" fill="hold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3" dur="500" fill="hold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3500"/>
                            </p:stCondLst>
                            <p:childTnLst>
                              <p:par>
                                <p:cTn id="425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4000"/>
                            </p:stCondLst>
                            <p:childTnLst>
                              <p:par>
                                <p:cTn id="430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2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3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4500"/>
                            </p:stCondLst>
                            <p:childTnLst>
                              <p:par>
                                <p:cTn id="435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7" dur="5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8" dur="5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40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2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3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45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7" dur="5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8" dur="5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6000"/>
                            </p:stCondLst>
                            <p:childTnLst>
                              <p:par>
                                <p:cTn id="450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2" dur="500" fill="hold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3" dur="500" fill="hold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5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7000"/>
                            </p:stCondLst>
                            <p:childTnLst>
                              <p:par>
                                <p:cTn id="460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2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3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7500"/>
                            </p:stCondLst>
                            <p:childTnLst>
                              <p:par>
                                <p:cTn id="465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7" dur="500" fill="hold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8" dur="500" fill="hold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8000"/>
                            </p:stCondLst>
                            <p:childTnLst>
                              <p:par>
                                <p:cTn id="470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2" dur="500" fill="hold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3" dur="500" fill="hold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8500"/>
                            </p:stCondLst>
                            <p:childTnLst>
                              <p:par>
                                <p:cTn id="475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7" dur="500" fill="hold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8" dur="500" fill="hold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9000"/>
                            </p:stCondLst>
                            <p:childTnLst>
                              <p:par>
                                <p:cTn id="480" presetID="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2" dur="500" fill="hold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3" dur="500" fill="hold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6984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sng" strike="noStrike">
                <a:solidFill>
                  <a:srgbClr val="0A3F23"/>
                </a:solidFill>
                <a:effectLst/>
                <a:uFillTx/>
                <a:latin typeface="Lato Black"/>
              </a:rPr>
              <a:t>EXPECTED OUTCOMES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28600" y="1072800"/>
            <a:ext cx="9370800" cy="32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600" b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🔎 Easier Property Discovery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4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Users can find relevant properties faster through focused search and filters.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600" b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📊 Better-Informed Decisions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4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Property details, comparisons, and locality insights help users evaluate options more clearly.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600" b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🤖 Smarter Personalization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4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Optional AI/ML recommendations can match properties with individual preferences and priorities.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600" b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💡 Transparent Recommendations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4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The system explains “Why this property?” instead of giving only an unexplained match score.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600" b="1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🌐 One Integrated Platform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4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Search, comparison, insights, and intelligent recommendations are brought together in a single platform.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484" dur="indefinite" restart="never" nodeType="tmRoot">
          <p:childTnLst>
            <p:seq>
              <p:cTn id="485" dur="indefinite" nodeType="mainSeq"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0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1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" fill="hold">
                            <p:stCondLst>
                              <p:cond delay="500"/>
                            </p:stCondLst>
                            <p:childTnLst>
                              <p:par>
                                <p:cTn id="493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5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6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7" fill="hold">
                            <p:stCondLst>
                              <p:cond delay="1000"/>
                            </p:stCondLst>
                            <p:childTnLst>
                              <p:par>
                                <p:cTn id="498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0" dur="5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1" dur="5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2" fill="hold">
                            <p:stCondLst>
                              <p:cond delay="1500"/>
                            </p:stCondLst>
                            <p:childTnLst>
                              <p:par>
                                <p:cTn id="503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5" dur="500" fill="hold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6" dur="500" fill="hold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fill="hold">
                            <p:stCondLst>
                              <p:cond delay="2000"/>
                            </p:stCondLst>
                            <p:childTnLst>
                              <p:par>
                                <p:cTn id="508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0" dur="500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1" dur="500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2" fill="hold">
                            <p:stCondLst>
                              <p:cond delay="2500"/>
                            </p:stCondLst>
                            <p:childTnLst>
                              <p:par>
                                <p:cTn id="513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5" dur="500" fill="hold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6" dur="500" fill="hold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3000"/>
                            </p:stCondLst>
                            <p:childTnLst>
                              <p:par>
                                <p:cTn id="518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0" dur="500" fill="hold"/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1" dur="500" fill="hold"/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2" fill="hold">
                            <p:stCondLst>
                              <p:cond delay="3500"/>
                            </p:stCondLst>
                            <p:childTnLst>
                              <p:par>
                                <p:cTn id="523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5" dur="500" fill="hold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6" dur="500" fill="hold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4000"/>
                            </p:stCondLst>
                            <p:childTnLst>
                              <p:par>
                                <p:cTn id="528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0" dur="500" fill="hold"/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1" dur="500" fill="hold"/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3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5" dur="500" fill="hold"/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6" dur="500" fill="hold"/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7" fill="hold">
                            <p:stCondLst>
                              <p:cond delay="5000"/>
                            </p:stCondLst>
                            <p:childTnLst>
                              <p:par>
                                <p:cTn id="538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0" dur="500" fill="hold"/>
                                        <p:tgtEl>
                                          <p:spTgt spid="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1" dur="500" fill="hold"/>
                                        <p:tgtEl>
                                          <p:spTgt spid="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527760" y="312480"/>
            <a:ext cx="910764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4000" b="1" u="sng" strike="noStrike">
                <a:solidFill>
                  <a:srgbClr val="0A3F23"/>
                </a:solidFill>
                <a:effectLst/>
                <a:uFillTx/>
                <a:latin typeface="Lato Black"/>
                <a:ea typeface="DejaVu Sans"/>
              </a:rPr>
              <a:t>CONCLUSION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37200" y="1492200"/>
            <a:ext cx="914220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Making Property Search Smarter, Simpler &amp; More Transparent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One platform for search, filtering, comparison and property insights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AI/ML adds personalized recommendations based on user preferences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Data analytics helps users understand properties and localities better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A simple, login-free experience keeps property discovery accessible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Designed to reduce search effort and support more informed property decisions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From searching for a property → to understanding the right property.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"/>
          <p:cNvPicPr/>
          <p:nvPr/>
        </p:nvPicPr>
        <p:blipFill>
          <a:blip r:embed="rId1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542" dur="indefinite" restart="never" nodeType="tmRoot">
          <p:childTnLst>
            <p:seq>
              <p:cTn id="543" dur="indefinite" nodeType="mainSeq">
                <p:childTnLst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presetID="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8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9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500"/>
                            </p:stCondLst>
                            <p:childTnLst>
                              <p:par>
                                <p:cTn id="551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3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4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56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8" dur="500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9" dur="500" fill="hold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0" fill="hold">
                            <p:stCondLst>
                              <p:cond delay="1500"/>
                            </p:stCondLst>
                            <p:childTnLst>
                              <p:par>
                                <p:cTn id="561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3" dur="500" fill="hold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4" dur="500" fill="hold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6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8" dur="500" fill="hold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9" dur="500" fill="hold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0" fill="hold">
                            <p:stCondLst>
                              <p:cond delay="2500"/>
                            </p:stCondLst>
                            <p:childTnLst>
                              <p:par>
                                <p:cTn id="571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3" dur="500" fill="hold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4" dur="500" fill="hold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5" fill="hold">
                            <p:stCondLst>
                              <p:cond delay="3000"/>
                            </p:stCondLst>
                            <p:childTnLst>
                              <p:par>
                                <p:cTn id="576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8" dur="500" fill="hold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9" dur="500" fill="hold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0" fill="hold">
                            <p:stCondLst>
                              <p:cond delay="3500"/>
                            </p:stCondLst>
                            <p:childTnLst>
                              <p:par>
                                <p:cTn id="581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3" dur="500" fill="hold"/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4" dur="500" fill="hold"/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2679480" y="285120"/>
            <a:ext cx="4812480" cy="7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4000" b="1" u="sng" strike="noStrike">
                <a:solidFill>
                  <a:srgbClr val="0A3F23"/>
                </a:solidFill>
                <a:effectLst/>
                <a:uFillTx/>
                <a:latin typeface="Lato Black"/>
                <a:ea typeface="DejaVu Sans"/>
              </a:rPr>
              <a:t>REFERENCES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57200" y="1227600"/>
            <a:ext cx="9370800" cy="27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Research: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Books, journals &amp; research papers on AI/ML, recommendation systems and real-estate analytics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Technical: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GitHub repositories, related projects &amp; online documentation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Content &amp; Ideation: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ChatGPT &amp; related project references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 Semibold"/>
                <a:ea typeface="DejaVu Sans"/>
              </a:rPr>
              <a:t>Design &amp; Visuals:</a:t>
            </a:r>
            <a:r>
              <a:rPr lang="en-US" sz="1800" b="0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 </a:t>
            </a:r>
            <a:r>
              <a:rPr lang="en-US" sz="1800" b="0" i="1" u="none" strike="noStrike">
                <a:solidFill>
                  <a:srgbClr val="2C3539"/>
                </a:solidFill>
                <a:effectLst/>
                <a:uFillTx/>
                <a:latin typeface="Lato"/>
                <a:ea typeface="DejaVu Sans"/>
              </a:rPr>
              <a:t>Google Images, Canva &amp; presentation resources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585" dur="indefinite" restart="never" nodeType="tmRoot">
          <p:childTnLst>
            <p:seq>
              <p:cTn id="586" dur="indefinite" nodeType="mainSeq">
                <p:childTnLst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1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2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3" fill="hold">
                            <p:stCondLst>
                              <p:cond delay="500"/>
                            </p:stCondLst>
                            <p:childTnLst>
                              <p:par>
                                <p:cTn id="594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6" dur="5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7" dur="5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9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1" dur="500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2" dur="500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3" fill="hold">
                            <p:stCondLst>
                              <p:cond delay="1500"/>
                            </p:stCondLst>
                            <p:childTnLst>
                              <p:par>
                                <p:cTn id="604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6" dur="500" fill="hold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7" dur="500" fill="hold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" fill="hold">
                            <p:stCondLst>
                              <p:cond delay="2000"/>
                            </p:stCondLst>
                            <p:childTnLst>
                              <p:par>
                                <p:cTn id="609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1" dur="500" fill="hold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2" dur="500" fill="hold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565200" y="914400"/>
            <a:ext cx="9212760" cy="14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400" b="1" u="sng" strike="noStrike">
                <a:solidFill>
                  <a:srgbClr val="0A3F23"/>
                </a:solidFill>
                <a:effectLst/>
                <a:uFillTx/>
                <a:latin typeface="Lato Black"/>
                <a:ea typeface="DejaVu Sans"/>
              </a:rPr>
              <a:t>QUESTIONS &amp; DISCUSSION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2954880" y="2568600"/>
            <a:ext cx="4191120" cy="23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"/>
          <p:cNvPicPr/>
          <p:nvPr/>
        </p:nvPicPr>
        <p:blipFill>
          <a:blip r:embed="rId2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613" dur="indefinite" restart="never" nodeType="tmRoot">
          <p:childTnLst>
            <p:seq>
              <p:cTn id="614" dur="indefinite" nodeType="mainSeq"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9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0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1" fill="hold">
                            <p:stCondLst>
                              <p:cond delay="500"/>
                            </p:stCondLst>
                            <p:childTnLst>
                              <p:par>
                                <p:cTn id="622" presetID="2" presetClass="entr" fill="hold" nodeType="afterEffect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3" dur="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4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5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3004920" y="825120"/>
            <a:ext cx="52243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400" b="1" u="none" strike="noStrike">
                <a:solidFill>
                  <a:srgbClr val="0A3F23"/>
                </a:solidFill>
                <a:effectLst/>
                <a:uFillTx/>
                <a:latin typeface="Lato Black"/>
                <a:ea typeface="DejaVu Sans"/>
              </a:rPr>
              <a:t>THANK YOU :)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9483120" y="3528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/>
          <p:cNvPicPr/>
          <p:nvPr/>
        </p:nvPicPr>
        <p:blipFill>
          <a:blip r:embed="rId2"/>
          <a:stretch/>
        </p:blipFill>
        <p:spPr>
          <a:xfrm>
            <a:off x="3657600" y="2144160"/>
            <a:ext cx="2460960" cy="3112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ll dir="d"/>
  </p:transition>
  <p:timing>
    <p:tnLst>
      <p:par>
        <p:cTn id="626" dur="indefinite" restart="never" nodeType="tmRoot">
          <p:childTnLst>
            <p:seq>
              <p:cTn id="627" dur="indefinite" nodeType="mainSeq">
                <p:childTnLst>
                  <p:par>
                    <p:cTn id="628" fill="hold">
                      <p:stCondLst>
                        <p:cond delay="0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presetID="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2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3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500"/>
                            </p:stCondLst>
                            <p:childTnLst>
                              <p:par>
                                <p:cTn id="635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7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8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2026-09-25T22:01:16Z</dcterms:created>
  <dc:creator/>
  <dc:description/>
  <dc:language>en-US</dc:language>
  <cp:lastModifiedBy/>
  <dcterms:modified xsi:type="dcterms:W3CDTF">2026-10-06T07:54:43Z</dcterms:modified>
  <cp:revision>92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